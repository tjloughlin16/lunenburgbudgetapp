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7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854" r:id="rId5"/>
    <p:sldMasterId id="2147483829" r:id="rId6"/>
    <p:sldMasterId id="2147483842" r:id="rId7"/>
    <p:sldMasterId id="2147483762" r:id="rId8"/>
    <p:sldMasterId id="2147483693" r:id="rId9"/>
    <p:sldMasterId id="2147483708" r:id="rId10"/>
    <p:sldMasterId id="2147483665" r:id="rId11"/>
  </p:sldMasterIdLst>
  <p:notesMasterIdLst>
    <p:notesMasterId r:id="rId35"/>
  </p:notesMasterIdLst>
  <p:handoutMasterIdLst>
    <p:handoutMasterId r:id="rId36"/>
  </p:handoutMasterIdLst>
  <p:sldIdLst>
    <p:sldId id="256" r:id="rId12"/>
    <p:sldId id="296" r:id="rId13"/>
    <p:sldId id="394" r:id="rId14"/>
    <p:sldId id="258" r:id="rId15"/>
    <p:sldId id="265" r:id="rId16"/>
    <p:sldId id="359" r:id="rId17"/>
    <p:sldId id="387" r:id="rId18"/>
    <p:sldId id="390" r:id="rId19"/>
    <p:sldId id="395" r:id="rId20"/>
    <p:sldId id="396" r:id="rId21"/>
    <p:sldId id="391" r:id="rId22"/>
    <p:sldId id="397" r:id="rId23"/>
    <p:sldId id="403" r:id="rId24"/>
    <p:sldId id="392" r:id="rId25"/>
    <p:sldId id="393" r:id="rId26"/>
    <p:sldId id="398" r:id="rId27"/>
    <p:sldId id="399" r:id="rId28"/>
    <p:sldId id="400" r:id="rId29"/>
    <p:sldId id="404" r:id="rId30"/>
    <p:sldId id="320" r:id="rId31"/>
    <p:sldId id="401" r:id="rId32"/>
    <p:sldId id="402" r:id="rId33"/>
    <p:sldId id="274" r:id="rId34"/>
  </p:sldIdLst>
  <p:sldSz cx="9144000" cy="6858000" type="screen4x3"/>
  <p:notesSz cx="7023100" cy="93091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15" autoAdjust="0"/>
    <p:restoredTop sz="83706" autoAdjust="0"/>
  </p:normalViewPr>
  <p:slideViewPr>
    <p:cSldViewPr>
      <p:cViewPr varScale="1">
        <p:scale>
          <a:sx n="53" d="100"/>
          <a:sy n="53" d="100"/>
        </p:scale>
        <p:origin x="95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2900"/>
    </p:cViewPr>
  </p:sorterViewPr>
  <p:notesViewPr>
    <p:cSldViewPr>
      <p:cViewPr>
        <p:scale>
          <a:sx n="120" d="100"/>
          <a:sy n="120" d="100"/>
        </p:scale>
        <p:origin x="1140" y="-1080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theme" Target="theme/theme1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handoutMaster" Target="handoutMasters/handoutMaster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notesMaster" Target="notesMasters/notesMaster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k Sullivan" userId="e150f10b-d370-487b-8649-4232f3c3b6ae" providerId="ADAL" clId="{C5A179FA-83ED-4E06-8952-B19A2284E250}"/>
    <pc:docChg chg="modSld">
      <pc:chgData name="Patrick Sullivan" userId="e150f10b-d370-487b-8649-4232f3c3b6ae" providerId="ADAL" clId="{C5A179FA-83ED-4E06-8952-B19A2284E250}" dt="2025-09-30T13:38:42.841" v="7" actId="113"/>
      <pc:docMkLst>
        <pc:docMk/>
      </pc:docMkLst>
      <pc:sldChg chg="modNotesTx">
        <pc:chgData name="Patrick Sullivan" userId="e150f10b-d370-487b-8649-4232f3c3b6ae" providerId="ADAL" clId="{C5A179FA-83ED-4E06-8952-B19A2284E250}" dt="2025-09-29T17:34:02.853" v="0" actId="20577"/>
        <pc:sldMkLst>
          <pc:docMk/>
          <pc:sldMk cId="0" sldId="265"/>
        </pc:sldMkLst>
      </pc:sldChg>
      <pc:sldChg chg="modSp mod">
        <pc:chgData name="Patrick Sullivan" userId="e150f10b-d370-487b-8649-4232f3c3b6ae" providerId="ADAL" clId="{C5A179FA-83ED-4E06-8952-B19A2284E250}" dt="2025-09-30T13:38:42.841" v="7" actId="113"/>
        <pc:sldMkLst>
          <pc:docMk/>
          <pc:sldMk cId="0" sldId="296"/>
        </pc:sldMkLst>
        <pc:spChg chg="mod">
          <ac:chgData name="Patrick Sullivan" userId="e150f10b-d370-487b-8649-4232f3c3b6ae" providerId="ADAL" clId="{C5A179FA-83ED-4E06-8952-B19A2284E250}" dt="2025-09-30T13:38:42.841" v="7" actId="113"/>
          <ac:spMkLst>
            <pc:docMk/>
            <pc:sldMk cId="0" sldId="296"/>
            <ac:spMk id="13315" creationId="{00000000-0000-0000-0000-000000000000}"/>
          </ac:spMkLst>
        </pc:spChg>
      </pc:sldChg>
      <pc:sldChg chg="modNotesTx">
        <pc:chgData name="Patrick Sullivan" userId="e150f10b-d370-487b-8649-4232f3c3b6ae" providerId="ADAL" clId="{C5A179FA-83ED-4E06-8952-B19A2284E250}" dt="2025-09-29T17:34:09.910" v="1" actId="20577"/>
        <pc:sldMkLst>
          <pc:docMk/>
          <pc:sldMk cId="0" sldId="359"/>
        </pc:sldMkLst>
      </pc:sldChg>
      <pc:sldChg chg="modNotesTx">
        <pc:chgData name="Patrick Sullivan" userId="e150f10b-d370-487b-8649-4232f3c3b6ae" providerId="ADAL" clId="{C5A179FA-83ED-4E06-8952-B19A2284E250}" dt="2025-09-29T17:34:17.597" v="2" actId="20577"/>
        <pc:sldMkLst>
          <pc:docMk/>
          <pc:sldMk cId="1591303064" sldId="390"/>
        </pc:sldMkLst>
      </pc:sldChg>
      <pc:sldChg chg="modNotesTx">
        <pc:chgData name="Patrick Sullivan" userId="e150f10b-d370-487b-8649-4232f3c3b6ae" providerId="ADAL" clId="{C5A179FA-83ED-4E06-8952-B19A2284E250}" dt="2025-09-29T17:34:25.948" v="3" actId="20577"/>
        <pc:sldMkLst>
          <pc:docMk/>
          <pc:sldMk cId="298720049" sldId="391"/>
        </pc:sldMkLst>
      </pc:sldChg>
      <pc:sldChg chg="modNotesTx">
        <pc:chgData name="Patrick Sullivan" userId="e150f10b-d370-487b-8649-4232f3c3b6ae" providerId="ADAL" clId="{C5A179FA-83ED-4E06-8952-B19A2284E250}" dt="2025-09-29T17:34:39.764" v="5" actId="20577"/>
        <pc:sldMkLst>
          <pc:docMk/>
          <pc:sldMk cId="960051826" sldId="39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309" tIns="46655" rIns="93309" bIns="46655" numCol="1" anchor="t" anchorCtr="0" compatLnSpc="1">
            <a:prstTxWarp prst="textNoShape">
              <a:avLst/>
            </a:prstTxWarp>
          </a:bodyPr>
          <a:lstStyle>
            <a:lvl1pPr defTabSz="932322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9863" y="0"/>
            <a:ext cx="3041650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309" tIns="46655" rIns="93309" bIns="46655" numCol="1" anchor="t" anchorCtr="0" compatLnSpc="1">
            <a:prstTxWarp prst="textNoShape">
              <a:avLst/>
            </a:prstTxWarp>
          </a:bodyPr>
          <a:lstStyle>
            <a:lvl1pPr algn="r" defTabSz="932322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0788"/>
            <a:ext cx="3043238" cy="466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309" tIns="46655" rIns="93309" bIns="46655" numCol="1" anchor="b" anchorCtr="0" compatLnSpc="1">
            <a:prstTxWarp prst="textNoShape">
              <a:avLst/>
            </a:prstTxWarp>
          </a:bodyPr>
          <a:lstStyle>
            <a:lvl1pPr defTabSz="932322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9863" y="8840788"/>
            <a:ext cx="3041650" cy="466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309" tIns="46655" rIns="93309" bIns="46655" numCol="1" anchor="b" anchorCtr="0" compatLnSpc="1">
            <a:prstTxWarp prst="textNoShape">
              <a:avLst/>
            </a:prstTxWarp>
          </a:bodyPr>
          <a:lstStyle>
            <a:lvl1pPr algn="r" defTabSz="931670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9F06401-3479-45F5-B9B1-B2F4D046C58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309" tIns="46655" rIns="93309" bIns="46655" numCol="1" anchor="t" anchorCtr="0" compatLnSpc="1">
            <a:prstTxWarp prst="textNoShape">
              <a:avLst/>
            </a:prstTxWarp>
          </a:bodyPr>
          <a:lstStyle>
            <a:lvl1pPr defTabSz="932322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9863" y="0"/>
            <a:ext cx="3041650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309" tIns="46655" rIns="93309" bIns="46655" numCol="1" anchor="t" anchorCtr="0" compatLnSpc="1">
            <a:prstTxWarp prst="textNoShape">
              <a:avLst/>
            </a:prstTxWarp>
          </a:bodyPr>
          <a:lstStyle>
            <a:lvl1pPr algn="r" defTabSz="932322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22775"/>
            <a:ext cx="5619750" cy="41878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309" tIns="46655" rIns="93309" bIns="466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0788"/>
            <a:ext cx="3043238" cy="466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309" tIns="46655" rIns="93309" bIns="46655" numCol="1" anchor="b" anchorCtr="0" compatLnSpc="1">
            <a:prstTxWarp prst="textNoShape">
              <a:avLst/>
            </a:prstTxWarp>
          </a:bodyPr>
          <a:lstStyle>
            <a:lvl1pPr defTabSz="932322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9863" y="8840788"/>
            <a:ext cx="3041650" cy="466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309" tIns="46655" rIns="93309" bIns="46655" numCol="1" anchor="b" anchorCtr="0" compatLnSpc="1">
            <a:prstTxWarp prst="textNoShape">
              <a:avLst/>
            </a:prstTxWarp>
          </a:bodyPr>
          <a:lstStyle>
            <a:lvl1pPr algn="r" defTabSz="931670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61A3AE0-2E87-4DF3-8417-9AA210B445C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Slide Image Placeholder 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77" tIns="45789" rIns="91577" bIns="45789" rtlCol="0" anchor="ctr"/>
          <a:lstStyle/>
          <a:p>
            <a:pPr lvl="0"/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17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89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61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33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05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77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5CF93F-CDA7-44B9-B2E9-B1200AAAA121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17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89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61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33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05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77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49EA85-330D-4BCE-B379-D99A12855181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1A3AE0-2E87-4DF3-8417-9AA210B445CB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50470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17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89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61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33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05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77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DDCD67F-6B99-4376-B392-D2BFA7799C5C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17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89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61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33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05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77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595FF56-72E6-4AED-B604-178DF0CEA776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17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89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61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33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05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77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65C6739-E575-4367-91B6-19DF88D924B3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1A3AE0-2E87-4DF3-8417-9AA210B445CB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55956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1A3AE0-2E87-4DF3-8417-9AA210B445CB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01583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1A3AE0-2E87-4DF3-8417-9AA210B445CB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83365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1A3AE0-2E87-4DF3-8417-9AA210B445CB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00955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1A3AE0-2E87-4DF3-8417-9AA210B445CB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63420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1A3AE0-2E87-4DF3-8417-9AA210B445CB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546424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>
              <a:buFontTx/>
              <a:buChar char="-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17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89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61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33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05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77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9230D0-F46A-4C38-B40D-062411DE6E78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17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8988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61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33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05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7788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E0509B2-BCC8-4B2D-9BC3-8882B661DD7A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762000" y="3048000"/>
            <a:ext cx="914400" cy="9144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84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3475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0381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662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295400"/>
            <a:ext cx="3581400" cy="4830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1295400"/>
            <a:ext cx="3581400" cy="4830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7953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6882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1066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386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438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604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787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1350" y="76200"/>
            <a:ext cx="1847850" cy="6049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7800" y="76200"/>
            <a:ext cx="5391150" cy="6049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3846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24000" y="1295400"/>
            <a:ext cx="7315200" cy="4830763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7549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76200"/>
            <a:ext cx="73152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4000" y="1295400"/>
            <a:ext cx="3581400" cy="4830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5257800" y="1295400"/>
            <a:ext cx="3581400" cy="4830763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89971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76200"/>
            <a:ext cx="73152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4000" y="1295400"/>
            <a:ext cx="3581400" cy="4830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257800" y="1295400"/>
            <a:ext cx="3581400" cy="2338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257800" y="3786188"/>
            <a:ext cx="3581400" cy="2339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981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2106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0E416-C851-43E7-8179-526BBA4AABE2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D9BDA-595A-45D2-96EE-219C8E4121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25398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90670-2872-4778-AD35-FC0F302E8D37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26865-2FBF-473C-8C7D-2A996C046F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66814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4B8B5F-2276-4EDA-8C11-C6916187C564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6FA2ED-6414-42F4-8E79-160B7CF69A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69608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AFA99-5AEF-4D6D-84A7-F4E0E41E0524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AD36C-3230-4C02-8B0D-FF0D856257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59575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276547-AB32-4B62-956A-D04811A1581F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E8671-3775-4D01-9D5D-27A3ACBBF5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54162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E6CF42-6FF3-4008-A849-8709ED406301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6DEE8A-06AE-4FBF-B5DF-BF47D46C20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02149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740310-B029-4114-87A3-01A9BB2E0C02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5500C0-90A0-4034-BFF4-0F791AF561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70911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19001-073D-4887-A6B5-03A71AA33D2F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523C42-BB90-4A56-841C-4177D3639D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51710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F7CC3D-CE97-4637-A012-2AD983A66AEF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ECE03-1EFD-4AFF-B04B-BE8FD450C4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61288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C1722-33D6-4918-AFB7-4FC722F998E0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55A12-F4AD-49DE-8D6C-74E4AC6967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72653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7A8C8A-B9EE-40A3-9595-0F0A157CFD33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EF5D3-F7F0-4926-AA5C-4B4C94F679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96325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607BED-B5EE-457F-BBE4-3C5092CD2062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3328A2-4E2E-4855-AFB1-1954AE79CC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89220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CF5525-2E79-4D1C-961D-B2F271D1E814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B5B93-A0C3-4181-A13D-016619A46F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87061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8E39B3-D505-4C38-8468-C490BAF9659D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E1EE9-79C4-4CF0-8ACD-883068A42E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7969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C856A-A3BC-40AE-9397-80DF203E35E3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665DF-6483-4D04-8F6A-09C235E721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0784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1814E1-E2B6-4BFC-B5D3-2AB16B7DFF51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3D5AFF-DDD4-49DC-B3D9-D11BBDDB7F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42889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CCD197-D9BA-4708-AF5E-62FFD9E6B2E3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F372A0-D043-489E-8AC9-1A56984D7D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68241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0CB429-BA66-4257-BCAB-F2FD4F7D5D8F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F13F0-7F8D-4CD0-8311-8580F401E3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16702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A4E93D-95B4-4D77-9786-8620A6C6C154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FBA63-4E2C-4D7E-993C-E03AC4E161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54541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8D6E74-3C15-4C43-8175-41E603DC699A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12C1B8-75B5-4445-8479-F6A814F2AB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28837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CA1F2-813B-4F55-88DA-C512C408AB7B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32344-CA94-4D67-8ECA-0475572FDA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238046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B2412-F32D-4BA2-A676-F1D10DE8CF27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78EFB-E510-4198-88C9-6A99741A28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4290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91D272-C88F-4E32-8BE3-7147849678FD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8A2BA-1E17-412E-9CD0-D16CC77EBD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05210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471D79-34FC-4AC4-9FF5-8134B37C347B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C10EBF-A39A-4BC4-BE88-60B6523BD2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34616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F4FA82-CE68-4D26-91DF-DECC9793C7E0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F9FAC-4B2F-41BE-B3A4-242896A91B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70001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6C3437-3FBC-42C8-ABE9-99CD8058CFDD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FA56B-969B-4DB7-9837-063BA38592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4905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493DD-7893-4D76-9089-B1871A203EA6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05120-C3A6-462D-B557-B193FC5394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577855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7DEB9-B8CF-4401-9EC0-CED88A444344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97EF6-56B4-49E6-A139-9DAD58E54B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05670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029819-1618-4793-9924-88C39DD49D22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31094-EA2F-49E5-BD9B-D6A07B82E8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97835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29CA9-9FA1-4B01-A553-A06D7E68D8E9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D7624-37F4-402E-A563-5F42B355E9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01817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5B70D-9AAA-481F-A230-E43F776994D2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26B43-0D39-4F24-B69E-0EB8ADEB1A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91669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C83DBF-C9CB-4B1E-8B59-C12068610E64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523E9-43C7-46DF-8313-C06614170C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68316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4170D-BE42-4AA4-A4BE-2BFFD4FA5FA0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742FCD-5D78-4F5C-A737-1C33B109F2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484310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73066-0ADB-4FB4-B92D-DAB59A3A2DB8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B973D-67AB-4AAA-9AD1-CA6AADFA8D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7587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AC62D-84F5-412E-BA84-6469C0022798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3E4237-E363-41F2-A3F1-2CFEFAA5C8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27766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718D2F-0666-4A03-B97E-AB3367FDE959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2AB1CD-7F50-4649-8844-B42602BDE7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958829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9159F6-E45B-4E31-8F48-94F552F89804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3A09A6-A7ED-4F77-A131-140A3A3FC9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53409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26E047-E985-4F7D-A995-747A24491EA7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B8182-C849-47A0-BBED-FCDCACDFEE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506596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CA1DC9-292C-4D27-A584-4CFFBE2F7ED3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B722F7-8C61-4512-934C-0482A92C39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07620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E098F9-C0D4-4B6F-9037-56C089FB19EF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50F5AB-C1A7-49C0-80D0-9E976FA8F5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173306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15FAE2-0B9D-48E6-A164-B53A5351131C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17B154-12C6-49E4-A1DF-109EA24FBC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052276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B4052B-C9C2-4498-B971-8957FC63012C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D87FA-B318-48B1-999B-6EEBD3AD75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332189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36DB1-0C1E-4FA4-A21E-5C08C12F021E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B214D4-151D-40CE-93BA-477254E129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533897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44062D-57DB-42FB-997B-ADBAF0F163C8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94EFE-BC2E-43AF-873F-0A7F0ADE64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55730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43A704-C2AE-49C4-BE87-36B986E89B5D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8B3A1-9327-4C80-9B56-C3D60574F7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314728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DCF0A-8E52-451C-9BD5-F098B9BFC0E3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33A9E-BF56-4FF7-9293-BC88B107C0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775887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0B78E-3E60-4473-BA69-57DFE470440F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5C48C6-0CBA-434D-8540-5EA69FCDB3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992150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B7072D-4DDD-4136-8845-314A153DB06E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84BDA-65BF-49EE-839D-3E5234CA9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217755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1A8ECA-E5C8-46C0-80F2-B13ED89BAC7E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9F9192-40D6-47CD-BB41-EFD9FDDFFB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305550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D0A33-2E73-416C-AE6C-9E865D5B2673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6191C0-96BC-46AE-B312-6DEDFDE917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312995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CA5D77-B0AA-44FC-91EE-D2C4804BCACA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E3CAC-C063-4545-B01E-91575B9220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107266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730C7-5D8F-490A-BE06-4B20DC5501F4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1F291F-B678-44C5-8106-F8174FF863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551235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0CE00-24E7-4FD8-ADE0-82CD09DD3D2F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1B3C6-1490-42CF-8A8B-D8DACEAA16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198364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1F151-19CD-4C07-8EF6-9D5F7C1AF30D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9E5B8-DB42-47AC-9709-2E1AFF0266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545122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FF76F-E9E1-4756-B5E8-25F67FD5549F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B2D03-D17B-45F6-B562-B0D370737C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530231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EAB068-A648-4CC7-972E-40C6DA64AEC2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87CC56-8011-41D3-94FC-E02108B7BD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865272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69D25-1C48-42AD-937D-36A492BD3E2F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32116-4AC9-44C2-B0CE-90EDBD3882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739291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BEC0B-DAD8-4612-B939-1D2708F70DAA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400AF-E768-405D-815C-EDC9C3AE5B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495646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06C6E-AC67-4D6B-A674-6BDCAE740AEF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5CABD1-FDDF-446D-9E75-8440999514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794735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BFBF57-880A-45C6-A393-410AAB8B5AC8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46728E-5721-4021-AA30-2BF8A675F0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818728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B446B8-B389-4FB0-862F-5DAC1055F1E1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0993AF-BFCC-4B75-B0B6-8A6D8C5FE8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659287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7F7C7-C06A-4157-84F9-57B02E814EFC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7C28B-EFDE-4F04-B768-C68C358195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446718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F79BB-CEC2-4CC8-AA6A-53F513FF485B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962A99-4F9A-4C3E-9257-4C7FB63BED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63494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6C6A8F-B63B-4E3A-9897-31B390C39405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9A21E-73F9-4014-BE44-7F3D8D9FD6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037160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E7C7CC-B103-499D-B261-0E1747CBBF29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EFD3D2-17A4-478D-8E76-94D160ECC1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311245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4169E0-A01C-47D4-A403-65E7FEEE09DD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7375CD-00AC-48FE-9D9C-E4C1011C02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177812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5EFD8C-263F-44C5-85D5-C7E63D228E71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567438-8D54-414A-8538-D545818D8E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164942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74D52A-9389-43E4-9274-23B49F3AE87A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D5983-F9BA-4F4A-B517-4478915CBB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600583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AD5EF-0256-41CA-A90E-14E1FF17D6E8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1BCC0B-52D6-44AA-BE14-100756F08E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401367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1FEA3E-6CA7-4577-AC6F-98F79603CFA1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1F094A-E8A8-47F7-A208-6BB65A5323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961128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75DE30-2F20-4190-BB2F-743D406690C2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8C78C2-7A67-4D74-9C2E-01180CE0EF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171765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D8E0D-659A-426C-90EB-C65546EAACCD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BE3F6-3E71-405F-B4AA-6CD9D2DEF6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915285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53CA1-38C6-4B14-BD36-98F2371A50F1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16E840-0DFA-41B4-95DB-2341572829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831596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D6159-83BE-4DDF-AFCE-18CC8D6E9156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BCA6A-3BF7-4CCF-9514-E996A2644C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475093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019DDB-6EB0-4367-B35B-C37C4D6DB007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484E8-5A0C-45B8-A8E1-CEC2A8BA1A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760837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8FE0B8-836F-44E8-94CC-CCAA8CB54745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8155E8-CB20-4994-BD2E-88048F3EF5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911935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BD2EE-473C-4C5A-A7F4-B24619271F84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F41554-BAEC-4432-9C8C-62C48F83F0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64871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D07FC-E0D4-4267-9435-C6E65C5274A4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F5BAA8-BD2F-45C8-BB29-CEDEE52947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878562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BAA8E-601F-41F7-937D-308043A6B247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37973C-D76D-4D7D-B3F4-4A1CDD294B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27696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5DEB80-3E45-4289-B21D-99C9D0B6F0BE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2E469-DFB2-4E23-921E-8A1BE63028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07011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D6FB74-0EC7-463D-AB2F-8BDADD5B46BC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EFA1A-6281-404F-9FB3-191CC7FC9D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317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FF"/>
            </a:gs>
            <a:gs pos="100000">
              <a:srgbClr val="00004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3"/>
          <p:cNvSpPr>
            <a:spLocks noChangeArrowheads="1"/>
          </p:cNvSpPr>
          <p:nvPr/>
        </p:nvSpPr>
        <p:spPr bwMode="auto">
          <a:xfrm>
            <a:off x="0" y="0"/>
            <a:ext cx="13716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47800" y="76200"/>
            <a:ext cx="7315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295400"/>
            <a:ext cx="73152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pic>
        <p:nvPicPr>
          <p:cNvPr id="1029" name="Picture 10" descr="LFDPatch_webnoback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11541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Text Box 14"/>
          <p:cNvSpPr txBox="1">
            <a:spLocks noChangeArrowheads="1"/>
          </p:cNvSpPr>
          <p:nvPr/>
        </p:nvSpPr>
        <p:spPr bwMode="auto">
          <a:xfrm>
            <a:off x="304800" y="1600200"/>
            <a:ext cx="762000" cy="52165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2</a:t>
            </a:r>
          </a:p>
          <a:p>
            <a:pPr algn="ctr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0</a:t>
            </a:r>
          </a:p>
          <a:p>
            <a:pPr algn="ctr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2</a:t>
            </a:r>
          </a:p>
          <a:p>
            <a:pPr algn="ctr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7</a:t>
            </a:r>
          </a:p>
          <a:p>
            <a:pPr algn="ctr">
              <a:defRPr/>
            </a:pPr>
            <a:endParaRPr lang="en-US" b="1" dirty="0">
              <a:solidFill>
                <a:schemeClr val="accent2"/>
              </a:solidFill>
              <a:cs typeface="+mn-cs"/>
            </a:endParaRPr>
          </a:p>
          <a:p>
            <a:pPr algn="ctr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B</a:t>
            </a:r>
          </a:p>
          <a:p>
            <a:pPr algn="ctr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U</a:t>
            </a:r>
          </a:p>
          <a:p>
            <a:pPr algn="ctr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D</a:t>
            </a:r>
          </a:p>
          <a:p>
            <a:pPr algn="ctr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G</a:t>
            </a:r>
          </a:p>
          <a:p>
            <a:pPr algn="ctr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E</a:t>
            </a:r>
          </a:p>
          <a:p>
            <a:pPr algn="ctr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T</a:t>
            </a:r>
          </a:p>
          <a:p>
            <a:pPr algn="ctr">
              <a:defRPr/>
            </a:pPr>
            <a:endParaRPr lang="en-US" dirty="0">
              <a:solidFill>
                <a:schemeClr val="accent2"/>
              </a:solidFill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  <p:sldLayoutId id="2147483869" r:id="rId15"/>
    <p:sldLayoutId id="2147483870" r:id="rId1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ahoma" pitchFamily="34" charset="0"/>
        </a:defRPr>
      </a:lvl9pPr>
    </p:titleStyle>
    <p:bodyStyle>
      <a:lvl1pPr marL="463550" indent="-463550" algn="l" rtl="0" eaLnBrk="0" fontAlgn="base" hangingPunct="0">
        <a:spcBef>
          <a:spcPct val="20000"/>
        </a:spcBef>
        <a:spcAft>
          <a:spcPct val="0"/>
        </a:spcAft>
        <a:buSzPct val="85000"/>
        <a:buChar char="•"/>
        <a:defRPr sz="3200">
          <a:solidFill>
            <a:srgbClr val="FFFF00"/>
          </a:solidFill>
          <a:latin typeface="+mn-lt"/>
          <a:ea typeface="+mn-ea"/>
          <a:cs typeface="+mn-cs"/>
        </a:defRPr>
      </a:lvl1pPr>
      <a:lvl2pPr marL="1025525" indent="-447675" algn="l" rtl="0" eaLnBrk="0" fontAlgn="base" hangingPunct="0">
        <a:spcBef>
          <a:spcPct val="20000"/>
        </a:spcBef>
        <a:spcAft>
          <a:spcPct val="0"/>
        </a:spcAft>
        <a:buSzPct val="85000"/>
        <a:buFont typeface="Wingdings" panose="05000000000000000000" pitchFamily="2" charset="2"/>
        <a:buChar char="Ø"/>
        <a:defRPr sz="2800">
          <a:solidFill>
            <a:srgbClr val="FFFF00"/>
          </a:solidFill>
          <a:latin typeface="+mn-lt"/>
        </a:defRPr>
      </a:lvl2pPr>
      <a:lvl3pPr marL="136842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charset="0"/>
        </a:defRPr>
      </a:lvl3pPr>
      <a:lvl4pPr marL="171132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fld id="{FC075D95-7A20-46CA-9F66-07B0D44E7F64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961EED2-4225-4BC8-A654-86BC9D2540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fld id="{E9F6563F-213F-4CD7-BE4F-225A6509A543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EB4E8DD-5008-4D84-A1D9-E950774C08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fld id="{054B3E1D-496B-49A2-ADCB-C73911D4DA88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C782C70-E1AA-4731-B270-C5B25FF7AE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fld id="{6FFDE9BD-E5B0-4CBE-B6A8-84FC16C2AECB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E620053-F845-4FD2-A278-2F51A433D0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fld id="{DEE4DE5D-28FA-4970-B06C-5F96E1BE4C38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82676D2-83A4-4B2E-B77F-AB7D206D5B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27" r:id="rId12"/>
    <p:sldLayoutId id="2147483928" r:id="rId13"/>
    <p:sldLayoutId id="2147483929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fld id="{A11A1FFF-8C25-4329-9F05-C2557D5D0D5C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71E0681-802F-4359-8FA3-9D79E3A507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fld id="{86DFF779-31CE-498A-BB30-A904417901E3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C60BE2D-0F96-4708-89C2-6C6F112A92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FF"/>
            </a:gs>
            <a:gs pos="100000">
              <a:srgbClr val="00004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2886075"/>
            <a:ext cx="7772400" cy="9906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C000"/>
                </a:solidFill>
              </a:rPr>
              <a:t>Lunenburg Fire-Rescue</a:t>
            </a:r>
          </a:p>
        </p:txBody>
      </p:sp>
      <p:pic>
        <p:nvPicPr>
          <p:cNvPr id="11269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0" y="-3175"/>
            <a:ext cx="3663950" cy="274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0" y="4197350"/>
            <a:ext cx="3795713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0"/>
            <a:ext cx="4129088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583" y="4197350"/>
            <a:ext cx="3975417" cy="266065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Fire Department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73152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Personnel (Proposed)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Chief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1 Administrative Asst.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dirty="0"/>
              <a:t>4 Career Officers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5 Call Fire Officers (3 EMT’s)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dirty="0"/>
              <a:t>8 Career Firefighter/Paramedics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34 Call Firefighters and EMTs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0B22-141D-6035-3FB6-4B4A8A50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Department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1BF10A-4F7F-FDA9-5D63-3B467857E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1" y="990600"/>
            <a:ext cx="7746999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785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30" name="Group 462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764132220"/>
              </p:ext>
            </p:extLst>
          </p:nvPr>
        </p:nvGraphicFramePr>
        <p:xfrm>
          <a:off x="2381250" y="1219200"/>
          <a:ext cx="5334000" cy="5360987"/>
        </p:xfrm>
        <a:graphic>
          <a:graphicData uri="http://schemas.openxmlformats.org/drawingml/2006/table">
            <a:tbl>
              <a:tblPr/>
              <a:tblGrid>
                <a:gridCol w="278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Call Type</a:t>
                      </a:r>
                    </a:p>
                  </a:txBody>
                  <a:tcPr marL="182880" marT="45749" marB="45749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Number</a:t>
                      </a:r>
                    </a:p>
                  </a:txBody>
                  <a:tcPr marL="182880" marT="45749" marB="45749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</a:rPr>
                        <a:t>Fires/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</a:rPr>
                        <a:t>Hazardous Cond.                                          </a:t>
                      </a:r>
                    </a:p>
                  </a:txBody>
                  <a:tcPr marL="182880" marT="45749" marB="4574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</a:rPr>
                        <a:t>163</a:t>
                      </a:r>
                    </a:p>
                  </a:txBody>
                  <a:tcPr marL="182880" marT="45749" marB="4574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</a:rPr>
                        <a:t>Alarms</a:t>
                      </a:r>
                    </a:p>
                  </a:txBody>
                  <a:tcPr marL="182880" marT="45749" marB="4574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</a:rPr>
                        <a:t>171</a:t>
                      </a:r>
                    </a:p>
                  </a:txBody>
                  <a:tcPr marL="182880" marT="45749" marB="4574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50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</a:rPr>
                        <a:t>Service/Good Intent</a:t>
                      </a:r>
                    </a:p>
                  </a:txBody>
                  <a:tcPr marL="182880" marT="45749" marB="4574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</a:rPr>
                        <a:t>113</a:t>
                      </a:r>
                    </a:p>
                  </a:txBody>
                  <a:tcPr marL="182880" marT="45749" marB="4574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3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</a:rPr>
                        <a:t>EMS/Rescue</a:t>
                      </a:r>
                    </a:p>
                  </a:txBody>
                  <a:tcPr marL="182880" marT="45749" marB="4574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</a:rPr>
                        <a:t>1193</a:t>
                      </a:r>
                    </a:p>
                  </a:txBody>
                  <a:tcPr marL="182880" marT="45749" marB="4574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5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</a:rPr>
                        <a:t>Inspections</a:t>
                      </a:r>
                    </a:p>
                  </a:txBody>
                  <a:tcPr marL="182880" marT="45749" marB="4574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</a:rPr>
                        <a:t>414</a:t>
                      </a:r>
                    </a:p>
                  </a:txBody>
                  <a:tcPr marL="182880" marT="45749" marB="4574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3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</a:rPr>
                        <a:t>Other</a:t>
                      </a:r>
                    </a:p>
                  </a:txBody>
                  <a:tcPr marL="182880" marT="45749" marB="4574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</a:rPr>
                        <a:t>29</a:t>
                      </a:r>
                    </a:p>
                  </a:txBody>
                  <a:tcPr marL="182880" marT="45749" marB="4574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30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</a:rPr>
                        <a:t>Total</a:t>
                      </a:r>
                    </a:p>
                  </a:txBody>
                  <a:tcPr marL="182880" marT="45749" marB="4574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</a:rPr>
                        <a:t>2083</a:t>
                      </a:r>
                    </a:p>
                  </a:txBody>
                  <a:tcPr marL="182880" marT="45749" marB="4574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475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76200"/>
            <a:ext cx="73152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Response Breakdown </a:t>
            </a:r>
            <a:br>
              <a:rPr lang="en-US" altLang="en-US" dirty="0"/>
            </a:br>
            <a:r>
              <a:rPr lang="en-US" altLang="en-US" dirty="0"/>
              <a:t>2024</a:t>
            </a:r>
          </a:p>
        </p:txBody>
      </p:sp>
      <p:sp>
        <p:nvSpPr>
          <p:cNvPr id="19476" name="Text Box 464"/>
          <p:cNvSpPr txBox="1">
            <a:spLocks noChangeArrowheads="1"/>
          </p:cNvSpPr>
          <p:nvPr/>
        </p:nvSpPr>
        <p:spPr bwMode="auto">
          <a:xfrm>
            <a:off x="6613525" y="6461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Char char="•"/>
              <a:defRPr sz="3200">
                <a:solidFill>
                  <a:srgbClr val="FFFF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5000"/>
              <a:buFont typeface="Wingdings" panose="05000000000000000000" pitchFamily="2" charset="2"/>
              <a:buChar char="Ø"/>
              <a:defRPr sz="2800">
                <a:solidFill>
                  <a:srgbClr val="FFFF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533400"/>
            <a:ext cx="5562600" cy="2286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Responses by Year</a:t>
            </a:r>
            <a:br>
              <a:rPr lang="en-US" altLang="en-US" sz="4000" dirty="0"/>
            </a:br>
            <a:r>
              <a:rPr lang="en-US" altLang="en-US" sz="4000" dirty="0"/>
              <a:t>2014-2024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00E2A9-5468-4BE6-DB4E-8238AB9A2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632" y="1295399"/>
            <a:ext cx="7762368" cy="55626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6"/>
          <p:cNvSpPr>
            <a:spLocks noGrp="1"/>
          </p:cNvSpPr>
          <p:nvPr>
            <p:ph type="title"/>
          </p:nvPr>
        </p:nvSpPr>
        <p:spPr>
          <a:xfrm>
            <a:off x="1371600" y="152400"/>
            <a:ext cx="7772400" cy="1524000"/>
          </a:xfrm>
        </p:spPr>
        <p:txBody>
          <a:bodyPr/>
          <a:lstStyle/>
          <a:p>
            <a:r>
              <a:rPr lang="en-US" altLang="en-US" dirty="0"/>
              <a:t>Effects of New Growth</a:t>
            </a:r>
            <a:br>
              <a:rPr lang="en-US" altLang="en-US" dirty="0"/>
            </a:br>
            <a:r>
              <a:rPr lang="en-US" altLang="en-US" sz="3200" dirty="0"/>
              <a:t>(Large Scale Projects in the last 17 years)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B37D8F-45B4-2091-52A8-CE81701FE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216" y="1676400"/>
            <a:ext cx="7754784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FY’27 Budget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24000" y="1295400"/>
            <a:ext cx="7315200" cy="5486400"/>
          </a:xfrm>
        </p:spPr>
        <p:txBody>
          <a:bodyPr/>
          <a:lstStyle/>
          <a:p>
            <a:r>
              <a:rPr lang="en-US" dirty="0"/>
              <a:t>Addition of 4</a:t>
            </a:r>
            <a:r>
              <a:rPr lang="en-US" baseline="30000" dirty="0"/>
              <a:t>th</a:t>
            </a:r>
            <a:r>
              <a:rPr lang="en-US" dirty="0"/>
              <a:t> Career shift to the FD</a:t>
            </a:r>
          </a:p>
          <a:p>
            <a:pPr lvl="1"/>
            <a:r>
              <a:rPr lang="en-US" dirty="0"/>
              <a:t>42 hour week</a:t>
            </a:r>
          </a:p>
          <a:p>
            <a:pPr lvl="1"/>
            <a:r>
              <a:rPr lang="en-US" dirty="0"/>
              <a:t>3 additional Firefighter/Paramedics</a:t>
            </a:r>
          </a:p>
          <a:p>
            <a:pPr lvl="1"/>
            <a:r>
              <a:rPr lang="en-US" dirty="0"/>
              <a:t>7 Day/week coverage</a:t>
            </a:r>
          </a:p>
          <a:p>
            <a:pPr lvl="1"/>
            <a:r>
              <a:rPr lang="en-US" dirty="0"/>
              <a:t>Per diem shifts adjusted to add 4</a:t>
            </a:r>
            <a:r>
              <a:rPr lang="en-US" baseline="30000" dirty="0"/>
              <a:t>th</a:t>
            </a:r>
            <a:r>
              <a:rPr lang="en-US" dirty="0"/>
              <a:t> FF 16 </a:t>
            </a:r>
            <a:r>
              <a:rPr lang="en-US" dirty="0" err="1"/>
              <a:t>hrs</a:t>
            </a:r>
            <a:r>
              <a:rPr lang="en-US" dirty="0"/>
              <a:t>/day</a:t>
            </a:r>
          </a:p>
          <a:p>
            <a:r>
              <a:rPr lang="en-US" dirty="0"/>
              <a:t>Increases in Operating Budget</a:t>
            </a:r>
          </a:p>
          <a:p>
            <a:pPr lvl="1"/>
            <a:r>
              <a:rPr lang="en-US" dirty="0"/>
              <a:t>EMS Supply/Capital Replacement (Fire)</a:t>
            </a:r>
          </a:p>
          <a:p>
            <a:pPr lvl="1"/>
            <a:r>
              <a:rPr lang="en-US" dirty="0"/>
              <a:t>Radio and Vehicle Maintenance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457200" y="1676400"/>
            <a:ext cx="457199" cy="1815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85000"/>
              <a:buChar char="•"/>
              <a:defRPr sz="3200">
                <a:solidFill>
                  <a:srgbClr val="FFFF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5000"/>
              <a:buFont typeface="Wingdings" panose="05000000000000000000" pitchFamily="2" charset="2"/>
              <a:buChar char="Ø"/>
              <a:defRPr sz="2800">
                <a:solidFill>
                  <a:srgbClr val="FFFF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800" b="1" dirty="0">
                <a:solidFill>
                  <a:srgbClr val="002060"/>
                </a:solidFill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800906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4365-5D60-A6D5-095C-24E78214C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FY’27 Salary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8400B-A2B4-7ACA-A8AF-330A07691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Career FF Salary-  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$981,393.04 (+</a:t>
            </a:r>
            <a:r>
              <a:rPr lang="en-US" dirty="0">
                <a:solidFill>
                  <a:schemeClr val="bg1"/>
                </a:solidFill>
              </a:rPr>
              <a:t>221,088.35)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3 Step 2 FF/PM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1 Promotion to Lt/PM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Based on current yearly salary 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30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725C2-CA60-67EC-874B-98335DB67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FY’ 27 Salary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72452-907E-0347-9AE4-2DDF59B6F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Career Overtime</a:t>
            </a:r>
          </a:p>
          <a:p>
            <a:pPr lvl="1"/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$255,677.72 </a:t>
            </a:r>
            <a:r>
              <a:rPr lang="en-US" dirty="0">
                <a:solidFill>
                  <a:schemeClr val="bg1"/>
                </a:solidFill>
              </a:rPr>
              <a:t>(+80,386.02)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Increased based on: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Increase in average OT Rate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Additional Estimated ETO for new Staff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Vacation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Personal/Comp Time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Sick Leave 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Call back &amp; 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5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68635-B8E3-D769-A841-20171BCD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FY’27 Salary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26FA1-452C-13A7-F4F4-BAF1D4BE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 Fire/EMS Salary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$291,070.34 9 (</a:t>
            </a:r>
            <a:r>
              <a:rPr lang="en-US" u="sng" dirty="0">
                <a:solidFill>
                  <a:schemeClr val="bg1"/>
                </a:solidFill>
              </a:rPr>
              <a:t>+</a:t>
            </a:r>
            <a:r>
              <a:rPr lang="en-US" dirty="0">
                <a:solidFill>
                  <a:schemeClr val="bg1"/>
                </a:solidFill>
              </a:rPr>
              <a:t> from FY’26)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Per diem Staffing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Call Firefighter &amp; EMT Responses</a:t>
            </a:r>
          </a:p>
          <a:p>
            <a:r>
              <a:rPr lang="en-US" dirty="0"/>
              <a:t>Holiday</a:t>
            </a:r>
          </a:p>
          <a:p>
            <a:pPr lvl="1"/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$69,572.64 </a:t>
            </a:r>
            <a:r>
              <a:rPr lang="en-US" dirty="0">
                <a:solidFill>
                  <a:schemeClr val="bg1"/>
                </a:solidFill>
              </a:rPr>
              <a:t>(+22,325.33)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Increase in hourly OT rate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Additional 3 Staff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29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510A7-41AE-76B1-C88F-F4E9B554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FY’27 Salary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E4FFE-7132-AA86-FA82-7F4684BC7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</a:t>
            </a:r>
          </a:p>
          <a:p>
            <a:pPr lvl="1"/>
            <a:r>
              <a:rPr lang="en-US" dirty="0"/>
              <a:t>$60,953 (</a:t>
            </a:r>
            <a:r>
              <a:rPr lang="en-US" u="sng" dirty="0"/>
              <a:t>+</a:t>
            </a:r>
            <a:r>
              <a:rPr lang="en-US" dirty="0"/>
              <a:t> from FY’26)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Department and outside training for staff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Can vary from year to year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Large part is for funding for Paramedic Training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Have not had to sent anyone to Paramedic School in last couple years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It is anticipated that we will need to train at least one new hire as a Paramedic.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20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0499-046B-B641-A860-39B99D30B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FY’ 27 Salary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A652E-332B-609B-E947-E35019989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Contractual items</a:t>
            </a:r>
          </a:p>
          <a:p>
            <a:pPr lvl="1"/>
            <a:r>
              <a:rPr lang="en-US" dirty="0"/>
              <a:t>Chief’s Salary</a:t>
            </a:r>
          </a:p>
          <a:p>
            <a:pPr lvl="1"/>
            <a:r>
              <a:rPr lang="en-US" dirty="0"/>
              <a:t>Career FF Longevity</a:t>
            </a:r>
          </a:p>
          <a:p>
            <a:pPr lvl="1"/>
            <a:r>
              <a:rPr lang="en-US" dirty="0"/>
              <a:t>Career FF Uniform allowance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$3300 increase for 3 new Staff</a:t>
            </a:r>
          </a:p>
          <a:p>
            <a:pPr lvl="1"/>
            <a:r>
              <a:rPr lang="en-US" dirty="0"/>
              <a:t>EMS/ALS Coordinators</a:t>
            </a:r>
          </a:p>
          <a:p>
            <a:pPr lvl="1"/>
            <a:r>
              <a:rPr lang="en-US" dirty="0"/>
              <a:t>Training Coordinator</a:t>
            </a:r>
          </a:p>
          <a:p>
            <a:pPr lvl="1"/>
            <a:r>
              <a:rPr lang="en-US" dirty="0"/>
              <a:t>Fire Prevention Officers</a:t>
            </a:r>
          </a:p>
          <a:p>
            <a:pPr lvl="1"/>
            <a:r>
              <a:rPr lang="en-US" dirty="0"/>
              <a:t>SAFE Coordinator</a:t>
            </a:r>
          </a:p>
        </p:txBody>
      </p:sp>
    </p:spTree>
    <p:extLst>
      <p:ext uri="{BB962C8B-B14F-4D97-AF65-F5344CB8AC3E}">
        <p14:creationId xmlns:p14="http://schemas.microsoft.com/office/powerpoint/2010/main" val="2575176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EB1E3-3FDD-0A3D-EBD9-67423E12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FY’27 Salary Total Increase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8222A-C4BF-4EC0-2FC1-AFA611B86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Estimated</a:t>
            </a:r>
          </a:p>
          <a:p>
            <a:pPr lvl="1"/>
            <a:r>
              <a:rPr lang="en-US" dirty="0"/>
              <a:t>$327,099.27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3 New Hires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Anticipated increases in OT Lines</a:t>
            </a:r>
          </a:p>
          <a:p>
            <a:r>
              <a:rPr lang="en-US" dirty="0"/>
              <a:t>OPEB costs</a:t>
            </a:r>
          </a:p>
          <a:p>
            <a:pPr lvl="1"/>
            <a:r>
              <a:rPr lang="en-US" dirty="0"/>
              <a:t>$137,269.57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Based on top end Family Plan insurance</a:t>
            </a:r>
          </a:p>
          <a:p>
            <a:r>
              <a:rPr lang="en-US" dirty="0"/>
              <a:t>TOTAL- </a:t>
            </a:r>
          </a:p>
          <a:p>
            <a:pPr lvl="1"/>
            <a:r>
              <a:rPr lang="en-US" dirty="0"/>
              <a:t>464,369.27</a:t>
            </a:r>
          </a:p>
        </p:txBody>
      </p:sp>
    </p:spTree>
    <p:extLst>
      <p:ext uri="{BB962C8B-B14F-4D97-AF65-F5344CB8AC3E}">
        <p14:creationId xmlns:p14="http://schemas.microsoft.com/office/powerpoint/2010/main" val="3485321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079C8-A037-A27C-99F4-3C2339CCF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FY’27 Expense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3C446-7B92-8D73-8854-1A46F4C91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Level Funded from FY’26 except as noted</a:t>
            </a:r>
          </a:p>
          <a:p>
            <a:pPr lvl="1"/>
            <a:r>
              <a:rPr lang="en-US" dirty="0"/>
              <a:t>EMS Maintenance &amp; Equipment</a:t>
            </a:r>
          </a:p>
          <a:p>
            <a:pPr lvl="1"/>
            <a:r>
              <a:rPr lang="en-US" dirty="0"/>
              <a:t>Capital Replacement Equipment (Fire)</a:t>
            </a:r>
          </a:p>
          <a:p>
            <a:pPr lvl="1"/>
            <a:r>
              <a:rPr lang="en-US" dirty="0"/>
              <a:t>Radio Maintenance</a:t>
            </a:r>
          </a:p>
          <a:p>
            <a:pPr lvl="1"/>
            <a:r>
              <a:rPr lang="en-US" dirty="0"/>
              <a:t>Vehicle Maintenance</a:t>
            </a:r>
          </a:p>
        </p:txBody>
      </p:sp>
    </p:spTree>
    <p:extLst>
      <p:ext uri="{BB962C8B-B14F-4D97-AF65-F5344CB8AC3E}">
        <p14:creationId xmlns:p14="http://schemas.microsoft.com/office/powerpoint/2010/main" val="1386758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E3329-81B7-E3DA-4F52-F8109102C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FY’27 Expense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5D52B-6CF2-A66F-9ADA-94F704826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946484"/>
            <a:ext cx="7315200" cy="4830763"/>
          </a:xfrm>
        </p:spPr>
        <p:txBody>
          <a:bodyPr/>
          <a:lstStyle/>
          <a:p>
            <a:r>
              <a:rPr lang="en-US" dirty="0"/>
              <a:t>EMS Supply/Equipment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$39,000 </a:t>
            </a:r>
            <a:r>
              <a:rPr lang="en-US" dirty="0">
                <a:solidFill>
                  <a:schemeClr val="bg1"/>
                </a:solidFill>
              </a:rPr>
              <a:t>(+12,000)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Covers Medications, oxygen, disposable supplies and maintenance of equipment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Cost has run above expectations since we transitioned to Paramedic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Increased Call Volume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Increased number of ALS Calls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Annual maintenance agreements for medical equipment have increased dramatically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$5000 increase this year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Request puts budget inline with expenses</a:t>
            </a:r>
          </a:p>
        </p:txBody>
      </p:sp>
    </p:spTree>
    <p:extLst>
      <p:ext uri="{BB962C8B-B14F-4D97-AF65-F5344CB8AC3E}">
        <p14:creationId xmlns:p14="http://schemas.microsoft.com/office/powerpoint/2010/main" val="960051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EA3FD-D8B8-7063-5846-008C672A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FY’ 27 Expense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1289C-7285-F7ED-2E5A-CED856AB9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Capital Replacement Equipment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$15000 </a:t>
            </a:r>
            <a:r>
              <a:rPr lang="en-US" dirty="0">
                <a:solidFill>
                  <a:schemeClr val="bg1"/>
                </a:solidFill>
              </a:rPr>
              <a:t>(+ $5000)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This is replacement of Firefighting hardware (Hose, nozzles, hand tools, </a:t>
            </a:r>
            <a:r>
              <a:rPr lang="en-US" dirty="0" err="1">
                <a:solidFill>
                  <a:schemeClr val="bg1"/>
                </a:solidFill>
              </a:rPr>
              <a:t>etc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Have received $15,000-19,000/year in State Grant funding for the last 5 years.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That Grant program has ceased and it is doubtful it will return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041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CCBC8-CA60-6515-04F6-0FB3E86C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FY’ 27 Expense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333D8-E031-5529-9368-7A92AFB0A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Radio Maintenance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$15000 </a:t>
            </a:r>
            <a:r>
              <a:rPr lang="en-US" dirty="0">
                <a:solidFill>
                  <a:schemeClr val="bg1"/>
                </a:solidFill>
              </a:rPr>
              <a:t>(+$5000)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Covers replacement of portable radios and maintenance of existing equipment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Repairs, batteries, annual service, etc.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Line has not increased in over 15 years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Portable fire ground radio runs $4300/unit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250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2D26B-42B8-3E12-40D8-BED3C5BE5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FY’27 Expense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7EE8E-F3C6-771C-2B5A-726E53594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946484"/>
            <a:ext cx="7315200" cy="5682916"/>
          </a:xfrm>
        </p:spPr>
        <p:txBody>
          <a:bodyPr/>
          <a:lstStyle/>
          <a:p>
            <a:r>
              <a:rPr lang="en-US" dirty="0"/>
              <a:t>Vehicle Maintenance- POS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$27000 </a:t>
            </a:r>
            <a:r>
              <a:rPr lang="en-US" dirty="0">
                <a:solidFill>
                  <a:schemeClr val="bg1"/>
                </a:solidFill>
              </a:rPr>
              <a:t>(+10,000)</a:t>
            </a:r>
          </a:p>
          <a:p>
            <a:pPr lvl="1"/>
            <a:r>
              <a:rPr lang="en-US" dirty="0"/>
              <a:t>Covers maintenance/repairs that are beyond the scope of DPW Mechanic</a:t>
            </a:r>
          </a:p>
          <a:p>
            <a:pPr lvl="1"/>
            <a:r>
              <a:rPr lang="en-US" dirty="0"/>
              <a:t>Have had to request Reserve Fund Transfers in more than one FY to cover unexpected repairs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Pump Repairs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Engine/Transmission issues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Fire Apparatus specific components</a:t>
            </a:r>
            <a:endParaRPr lang="en-US" dirty="0"/>
          </a:p>
          <a:p>
            <a:pPr lvl="1"/>
            <a:r>
              <a:rPr lang="en-US" dirty="0"/>
              <a:t>Request is to keep budget in line with anticipated repairs</a:t>
            </a:r>
          </a:p>
        </p:txBody>
      </p:sp>
    </p:spTree>
    <p:extLst>
      <p:ext uri="{BB962C8B-B14F-4D97-AF65-F5344CB8AC3E}">
        <p14:creationId xmlns:p14="http://schemas.microsoft.com/office/powerpoint/2010/main" val="697258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2FB50-7AE7-9E0A-963F-A5CD46EA3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FY’ 27 Expense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4B4C1-F0D9-42A1-A366-72E698D50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Increase- Expenses</a:t>
            </a:r>
          </a:p>
          <a:p>
            <a:pPr lvl="1"/>
            <a:r>
              <a:rPr lang="en-US" dirty="0"/>
              <a:t>-$32,000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41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28600"/>
            <a:ext cx="7315200" cy="838200"/>
          </a:xfrm>
        </p:spPr>
        <p:txBody>
          <a:bodyPr/>
          <a:lstStyle/>
          <a:p>
            <a:pPr>
              <a:defRPr/>
            </a:pP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chemeClr val="accent3"/>
                </a:solidFill>
              </a:rPr>
              <a:t>Impact of Budget as Recommended</a:t>
            </a:r>
            <a:br>
              <a:rPr lang="en-US" dirty="0">
                <a:solidFill>
                  <a:schemeClr val="accent3"/>
                </a:solidFill>
              </a:rPr>
            </a:b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6627" name="TextBox 2"/>
          <p:cNvSpPr txBox="1">
            <a:spLocks noChangeArrowheads="1"/>
          </p:cNvSpPr>
          <p:nvPr/>
        </p:nvSpPr>
        <p:spPr bwMode="auto">
          <a:xfrm>
            <a:off x="2133600" y="1676400"/>
            <a:ext cx="6629400" cy="50783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 eaLnBrk="0" hangingPunct="0"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>
              <a:buFont typeface="Wingdings" pitchFamily="2" charset="2"/>
              <a:buChar char="Ø"/>
              <a:defRPr/>
            </a:pPr>
            <a:r>
              <a:rPr lang="en-US" sz="2000">
                <a:solidFill>
                  <a:srgbClr val="FFFF00"/>
                </a:solidFill>
              </a:rPr>
              <a:t>Increases </a:t>
            </a:r>
            <a:r>
              <a:rPr lang="en-US" sz="2000" dirty="0">
                <a:solidFill>
                  <a:srgbClr val="FFFF00"/>
                </a:solidFill>
              </a:rPr>
              <a:t>career coverage to 24/7/365</a:t>
            </a:r>
          </a:p>
          <a:p>
            <a:pPr lvl="1">
              <a:buFont typeface="Wingdings" pitchFamily="2" charset="2"/>
              <a:buChar char="Ø"/>
              <a:defRPr/>
            </a:pPr>
            <a:endParaRPr lang="en-US" sz="2000" dirty="0">
              <a:solidFill>
                <a:srgbClr val="FFFF00"/>
              </a:solidFill>
            </a:endParaRPr>
          </a:p>
          <a:p>
            <a:pP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rgbClr val="FFFF00"/>
                </a:solidFill>
              </a:rPr>
              <a:t>Boosts coverage to 4 FF’s 16 hours/day (Can cover both ambulances + Better fire response)</a:t>
            </a:r>
          </a:p>
          <a:p>
            <a:pPr marL="0" indent="0"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>
              <a:buFont typeface="Wingdings" pitchFamily="2" charset="2"/>
              <a:buChar char="Ø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Properly Funds EMS Supply &amp; Equipment support needs</a:t>
            </a:r>
          </a:p>
          <a:p>
            <a:pPr>
              <a:buFont typeface="Wingdings" pitchFamily="2" charset="2"/>
              <a:buChar char="Ø"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>
              <a:buFont typeface="Wingdings" pitchFamily="2" charset="2"/>
              <a:buChar char="Ø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Increases funding for radio replacement</a:t>
            </a:r>
          </a:p>
          <a:p>
            <a:pPr>
              <a:buFont typeface="Wingdings" pitchFamily="2" charset="2"/>
              <a:buChar char="Ø"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>
              <a:buFont typeface="Wingdings" pitchFamily="2" charset="2"/>
              <a:buChar char="Ø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Increases funding to properly maintain emergency vehicle fleet</a:t>
            </a:r>
          </a:p>
          <a:p>
            <a:pPr marL="0" indent="0">
              <a:defRPr/>
            </a:pPr>
            <a:endParaRPr lang="en-US" dirty="0">
              <a:solidFill>
                <a:srgbClr val="FFFF00"/>
              </a:solidFill>
            </a:endParaRPr>
          </a:p>
          <a:p>
            <a:pPr marL="0" indent="0">
              <a:defRPr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itchFamily="2" charset="2"/>
              <a:buChar char="Ø"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21AD-E77D-0B14-37CD-41844F775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312737"/>
            <a:ext cx="7315200" cy="838200"/>
          </a:xfrm>
        </p:spPr>
        <p:txBody>
          <a:bodyPr/>
          <a:lstStyle/>
          <a:p>
            <a:r>
              <a:rPr lang="en-US" dirty="0"/>
              <a:t>Expectations for the next 3-5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6656-F584-C97E-5C04-09D161E7E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714500"/>
            <a:ext cx="7315200" cy="4830763"/>
          </a:xfrm>
        </p:spPr>
        <p:txBody>
          <a:bodyPr/>
          <a:lstStyle/>
          <a:p>
            <a:r>
              <a:rPr lang="en-US" dirty="0"/>
              <a:t>Salary/Staffing</a:t>
            </a:r>
          </a:p>
          <a:p>
            <a:pPr lvl="1"/>
            <a:r>
              <a:rPr lang="en-US" dirty="0"/>
              <a:t>Step increases for new staff</a:t>
            </a:r>
          </a:p>
          <a:p>
            <a:pPr lvl="1"/>
            <a:r>
              <a:rPr lang="en-US" dirty="0"/>
              <a:t>Challenges in Recruiting/Retaining Call Firefighters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Ability to continue to supplement staffing with per diem vs. additional career staff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Should consider independent staffing study to look at best options</a:t>
            </a:r>
          </a:p>
        </p:txBody>
      </p:sp>
    </p:spTree>
    <p:extLst>
      <p:ext uri="{BB962C8B-B14F-4D97-AF65-F5344CB8AC3E}">
        <p14:creationId xmlns:p14="http://schemas.microsoft.com/office/powerpoint/2010/main" val="4033250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951C1-37C2-B1F4-9992-B9EBE6F9C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842" y="312737"/>
            <a:ext cx="7315200" cy="838200"/>
          </a:xfrm>
        </p:spPr>
        <p:txBody>
          <a:bodyPr/>
          <a:lstStyle/>
          <a:p>
            <a:r>
              <a:rPr lang="en-US" dirty="0"/>
              <a:t>Expectations for the next 3-5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54732-63ED-18F0-0007-FFCDD4D4F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905000"/>
            <a:ext cx="7315200" cy="4830763"/>
          </a:xfrm>
        </p:spPr>
        <p:txBody>
          <a:bodyPr/>
          <a:lstStyle/>
          <a:p>
            <a:r>
              <a:rPr lang="en-US" dirty="0"/>
              <a:t>Expenses</a:t>
            </a:r>
          </a:p>
          <a:p>
            <a:pPr lvl="1"/>
            <a:r>
              <a:rPr lang="en-US" dirty="0"/>
              <a:t>Federal Grant funding VERY uncertain</a:t>
            </a:r>
          </a:p>
          <a:p>
            <a:pPr lvl="1"/>
            <a:r>
              <a:rPr lang="en-US" dirty="0"/>
              <a:t>EMS Supply and Vehicle maintenance costs may increase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Run Volume increases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Future Development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Strains on local EMS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Additional wear and tear of vehicles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More complex vehicles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Inflationary costs</a:t>
            </a:r>
          </a:p>
        </p:txBody>
      </p:sp>
    </p:spTree>
    <p:extLst>
      <p:ext uri="{BB962C8B-B14F-4D97-AF65-F5344CB8AC3E}">
        <p14:creationId xmlns:p14="http://schemas.microsoft.com/office/powerpoint/2010/main" val="1074368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109788" y="5257800"/>
            <a:ext cx="6400800" cy="1066800"/>
          </a:xfrm>
          <a:effectLst>
            <a:outerShdw dist="35921" dir="2700000" algn="ctr" rotWithShape="0">
              <a:schemeClr val="tx2"/>
            </a:outerShdw>
          </a:effectLst>
        </p:spPr>
        <p:txBody>
          <a:bodyPr/>
          <a:lstStyle/>
          <a:p>
            <a:pPr eaLnBrk="1" hangingPunct="1"/>
            <a:r>
              <a:rPr lang="en-US" altLang="en-US" sz="440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6246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0"/>
            <a:ext cx="7772400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38B02FDC856742B61C4E662CB56CA0" ma:contentTypeVersion="13" ma:contentTypeDescription="Create a new document." ma:contentTypeScope="" ma:versionID="e2f46c16db99a5e37a743b01fa3bb7c8">
  <xsd:schema xmlns:xsd="http://www.w3.org/2001/XMLSchema" xmlns:xs="http://www.w3.org/2001/XMLSchema" xmlns:p="http://schemas.microsoft.com/office/2006/metadata/properties" xmlns:ns2="1d3b5b3f-11dc-4ef1-b688-56753debd9fd" xmlns:ns3="ef6bec7b-1ddb-496d-ba1f-8d07ffe0a282" targetNamespace="http://schemas.microsoft.com/office/2006/metadata/properties" ma:root="true" ma:fieldsID="03dfeeec34635e00266b74a088e951ae" ns2:_="" ns3:_="">
    <xsd:import namespace="1d3b5b3f-11dc-4ef1-b688-56753debd9fd"/>
    <xsd:import namespace="ef6bec7b-1ddb-496d-ba1f-8d07ffe0a2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3b5b3f-11dc-4ef1-b688-56753debd9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8593d89-eaca-4e69-8bc1-af8552ccee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6bec7b-1ddb-496d-ba1f-8d07ffe0a28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875a348-30bd-446b-8047-404408c3c990}" ma:internalName="TaxCatchAll" ma:showField="CatchAllData" ma:web="ef6bec7b-1ddb-496d-ba1f-8d07ffe0a2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f6bec7b-1ddb-496d-ba1f-8d07ffe0a282" xsi:nil="true"/>
    <lcf76f155ced4ddcb4097134ff3c332f xmlns="1d3b5b3f-11dc-4ef1-b688-56753debd9f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352C36-75EF-47CB-AF64-744FF662A4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3b5b3f-11dc-4ef1-b688-56753debd9fd"/>
    <ds:schemaRef ds:uri="ef6bec7b-1ddb-496d-ba1f-8d07ffe0a2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003D359-F7FB-4D98-8000-B801C5C43271}">
  <ds:schemaRefs>
    <ds:schemaRef ds:uri="http://schemas.microsoft.com/office/2006/metadata/properties"/>
    <ds:schemaRef ds:uri="http://schemas.microsoft.com/office/infopath/2007/PartnerControls"/>
    <ds:schemaRef ds:uri="ef6bec7b-1ddb-496d-ba1f-8d07ffe0a282"/>
    <ds:schemaRef ds:uri="1d3b5b3f-11dc-4ef1-b688-56753debd9fd"/>
  </ds:schemaRefs>
</ds:datastoreItem>
</file>

<file path=customXml/itemProps3.xml><?xml version="1.0" encoding="utf-8"?>
<ds:datastoreItem xmlns:ds="http://schemas.openxmlformats.org/officeDocument/2006/customXml" ds:itemID="{45A766DC-720F-48A9-99E7-9B3735041C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14479</TotalTime>
  <Words>770</Words>
  <Application>Microsoft Office PowerPoint</Application>
  <PresentationFormat>On-screen Show (4:3)</PresentationFormat>
  <Paragraphs>177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Arial</vt:lpstr>
      <vt:lpstr>Calibri</vt:lpstr>
      <vt:lpstr>Tahoma</vt:lpstr>
      <vt:lpstr>Wingdings</vt:lpstr>
      <vt:lpstr>Default Design</vt:lpstr>
      <vt:lpstr>6_Custom Design</vt:lpstr>
      <vt:lpstr>4_Custom Design</vt:lpstr>
      <vt:lpstr>5_Custom Design</vt:lpstr>
      <vt:lpstr>3_Custom Design</vt:lpstr>
      <vt:lpstr>1_Custom Design</vt:lpstr>
      <vt:lpstr>2_Custom Design</vt:lpstr>
      <vt:lpstr>Custom Design</vt:lpstr>
      <vt:lpstr>Lunenburg Fire-Rescue</vt:lpstr>
      <vt:lpstr>Fire Department</vt:lpstr>
      <vt:lpstr>Department Structure</vt:lpstr>
      <vt:lpstr>Response Breakdown  2024</vt:lpstr>
      <vt:lpstr>Responses by Year 2014-2024</vt:lpstr>
      <vt:lpstr>Effects of New Growth (Large Scale Projects in the last 17 years)</vt:lpstr>
      <vt:lpstr>FY’27 Budget Summary</vt:lpstr>
      <vt:lpstr>FY’27 Salary</vt:lpstr>
      <vt:lpstr>FY’ 27 Salary</vt:lpstr>
      <vt:lpstr>FY’27 Salary</vt:lpstr>
      <vt:lpstr>FY’27 Salary</vt:lpstr>
      <vt:lpstr>FY’ 27 Salary</vt:lpstr>
      <vt:lpstr>FY’27 Salary Total Increase</vt:lpstr>
      <vt:lpstr>FY’27 Expense Summary</vt:lpstr>
      <vt:lpstr>FY’27 Expense</vt:lpstr>
      <vt:lpstr>FY’ 27 Expense</vt:lpstr>
      <vt:lpstr>FY’ 27 Expense</vt:lpstr>
      <vt:lpstr>FY’27 Expense</vt:lpstr>
      <vt:lpstr>FY’ 27 Expense </vt:lpstr>
      <vt:lpstr> Impact of Budget as Recommended </vt:lpstr>
      <vt:lpstr>Expectations for the next 3-5 years</vt:lpstr>
      <vt:lpstr>Expectations for the next 3-5 years</vt:lpstr>
      <vt:lpstr>PowerPoint Presentation</vt:lpstr>
    </vt:vector>
  </TitlesOfParts>
  <Manager>Scott Glenny, Chief</Manager>
  <Company>Lunenburg Fire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2008 Budget Presentation</dc:title>
  <dc:creator>Jon C. Jones, PIO</dc:creator>
  <cp:lastModifiedBy>Patrick Sullivan</cp:lastModifiedBy>
  <cp:revision>601</cp:revision>
  <cp:lastPrinted>2020-02-27T18:51:07Z</cp:lastPrinted>
  <dcterms:created xsi:type="dcterms:W3CDTF">1601-01-01T00:00:00Z</dcterms:created>
  <dcterms:modified xsi:type="dcterms:W3CDTF">2025-09-30T13:38:50Z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MediaServiceImageTags">
    <vt:lpwstr/>
  </property>
</Properties>
</file>