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0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A6E2-92BE-8F09-3F4F-AE7925260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3F81F-0107-72C9-BAC6-588A0D833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6C7CD-C743-D3FD-F17B-3EC366C36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4FCAB-C92A-8803-BB0C-879303DD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5F78D-1CE8-E24B-6E46-AC8C3354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68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886C-0A57-A941-EDED-91E0698E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A2A0-DCF6-E53E-968A-B44F56A1D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4B84C-9891-8F30-A0D6-CE9D5455F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D6FE4-A673-1F2C-9B0B-7E39A7346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EAE4-1E16-C610-00B6-B8CCB91F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2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12BC5-81A0-8632-98EF-4E73F093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A3709-75BD-8C81-4E3C-DD1EC1EC0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4FE36-AA71-D4B2-F10B-B653E5FE3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8FD1B-DC12-D0A6-6E87-9C64B5A7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4555E-A6AA-BA50-B72E-2150CF8F1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0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A704-5341-ED4D-8A3E-96E462484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A3D79-A0FA-2940-97DD-59D75D634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1B91D-29DC-4CFE-2C32-84AB69C98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9DDD3-4851-CE97-1631-02656622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5E78E-AA8D-864B-2B63-C094E0F6F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4CE0D-5D6C-C711-A52D-8548B8A1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52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FA73-14DE-278A-629D-5CD84BB8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3A739-FF28-386D-3562-8D06B4521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9EEA3-11EA-9841-CF09-F02471D5B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8CCBE-BBDF-3F2B-E894-63926B8BF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88484-7465-F307-3AD9-65519DFAC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DA9BA3-193F-737B-017A-225ABE1B8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06516-9325-69B3-85D6-93435390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EE9828-AA87-99E6-2D2B-BD0681069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8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24E5-9CCD-B753-419F-625D9FC3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48E31-FF91-0574-1F8B-C6C3DBB9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A1D0B-243A-EF70-C94E-6403270FA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4DFD9-CCD2-330F-357E-5984A0FF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78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77363-0B89-41D6-1CF6-2AA684BB6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67BEA-E06C-0D46-8592-BE177DCE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51772-7797-B32D-42D4-B334F612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68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0CC35-F468-FE2D-D8B4-5A0C7CF2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B74D3-E11D-D8C3-844C-17A3C920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468E4-6525-E017-4884-0987462D8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D5669-BCAD-3A73-D8DE-84E3BD33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829AD-75F2-8C11-820B-01EA6694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5C6EB-EEB0-2EFF-7E46-DD8EE00F8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6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83951-B922-B16D-9959-04E9FA80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86D14E-F051-2B7D-0739-813B992F10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2E754D-D95C-5A77-EF4E-4CD778934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A7572-7A89-8D0A-48F3-642A66E87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AF59D-139B-F848-0437-18FA3079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34393-A1C9-B332-3B48-A0131C99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54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A6B0-5B1E-52DC-B47C-74109D3F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0C341-DE78-094F-DC37-5118F0022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B4F7D-3BDB-13E3-94C5-B86238C8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A2CEA-8AFF-2781-ACDF-C2E010818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C53A7-A456-3F80-E547-E845A21E3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71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2AE4-09FF-7B36-769E-95A3666E7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DA702-99DC-D8FD-2DF0-776E2CFCD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7602-011D-5676-BCC7-1D6BEFB7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56362-84DF-E84C-8083-AB6A478D0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C0B48-A79C-1B69-DDFB-46E7D40A4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2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5C3A3E-0051-0173-D0CA-9DECBF85D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9335C-6862-B4A4-ED16-F95FEB401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F2A58-673F-C69B-1356-105A3E1A0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0D107-2CB3-48A1-A83B-91BA01F8C9C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DF596-4CF3-01C9-324A-23838D0A3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D801D-BFB2-2495-6036-79430670E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BC11C3-8768-4EB7-B355-D4F274283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0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663AB5-0724-C43B-EACA-7BFDD79281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939FF02-844D-6103-3ED9-E09C52246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FY2026 Q3 FINCOM REPORT</a:t>
            </a:r>
          </a:p>
          <a:p>
            <a:r>
              <a:rPr lang="en-US" dirty="0"/>
              <a:t>AUGUST 13, 2026</a:t>
            </a:r>
          </a:p>
          <a:p>
            <a:r>
              <a:rPr lang="en-US" dirty="0"/>
              <a:t>KAREN BARRETT – FINANCE DIRECTOR</a:t>
            </a:r>
          </a:p>
        </p:txBody>
      </p:sp>
    </p:spTree>
    <p:extLst>
      <p:ext uri="{BB962C8B-B14F-4D97-AF65-F5344CB8AC3E}">
        <p14:creationId xmlns:p14="http://schemas.microsoft.com/office/powerpoint/2010/main" val="4090642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C077-DC17-AF63-B328-2D9A9652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95411-C958-398C-C044-5B994B9C8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Overview</a:t>
            </a:r>
          </a:p>
          <a:p>
            <a:pPr lvl="1"/>
            <a:r>
              <a:rPr lang="en-US" sz="3600" dirty="0"/>
              <a:t>General Fund – Revenues</a:t>
            </a:r>
          </a:p>
          <a:p>
            <a:pPr lvl="1"/>
            <a:r>
              <a:rPr lang="en-US" sz="3600" dirty="0"/>
              <a:t>General Fund – Expenditures</a:t>
            </a:r>
          </a:p>
          <a:p>
            <a:pPr lvl="1"/>
            <a:r>
              <a:rPr lang="en-US" sz="3600" dirty="0"/>
              <a:t>Enterprise Funds</a:t>
            </a:r>
          </a:p>
          <a:p>
            <a:pPr marL="457200" lvl="1" indent="0">
              <a:buNone/>
            </a:pPr>
            <a:endParaRPr lang="en-US" sz="3600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37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3E44-7EDB-6A5C-A5C0-5F4D4F27F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94A0F-5603-F147-984C-0C1BDA1D8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Fund Revenue Composition</a:t>
            </a:r>
          </a:p>
          <a:p>
            <a:endParaRPr lang="en-US" dirty="0"/>
          </a:p>
          <a:p>
            <a:pPr lvl="1"/>
            <a:r>
              <a:rPr lang="en-US" dirty="0"/>
              <a:t>Property Taxes 		– 64%  </a:t>
            </a:r>
          </a:p>
          <a:p>
            <a:pPr lvl="1"/>
            <a:r>
              <a:rPr lang="en-US" dirty="0"/>
              <a:t>State Aid             		-  20%</a:t>
            </a:r>
          </a:p>
          <a:p>
            <a:pPr lvl="1"/>
            <a:r>
              <a:rPr lang="en-US" dirty="0"/>
              <a:t>Local Receipts 		– 11%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18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6CF66-4824-0E8B-4E23-634A0C5F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6192F-921B-23FA-A3BE-20E01B20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                                           </a:t>
            </a:r>
            <a:r>
              <a:rPr lang="en-US" sz="2800" u="sng" dirty="0"/>
              <a:t>Property Tax revenue</a:t>
            </a:r>
          </a:p>
          <a:p>
            <a:pPr lvl="1"/>
            <a:r>
              <a:rPr lang="en-US" sz="2800" dirty="0"/>
              <a:t>FY2026 collections thru 3/31/2026 = $26,269,134</a:t>
            </a:r>
          </a:p>
          <a:p>
            <a:pPr lvl="1"/>
            <a:r>
              <a:rPr lang="en-US" sz="2800" dirty="0"/>
              <a:t>FY2026 Net Tax Levy                               = $35,081,996</a:t>
            </a:r>
          </a:p>
          <a:p>
            <a:pPr lvl="1"/>
            <a:r>
              <a:rPr lang="en-US" sz="2800" dirty="0"/>
              <a:t>FY2026 Collection Rate                        =      75%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28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2C1E2-F6CA-4923-6063-0F7BC5E2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247E-1551-1914-0527-34E0D448C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FE1DE-C339-97B2-BB78-F35740111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                                           </a:t>
            </a:r>
            <a:r>
              <a:rPr lang="en-US" sz="2800" u="sng" dirty="0"/>
              <a:t>State Aid revenue</a:t>
            </a:r>
          </a:p>
          <a:p>
            <a:pPr lvl="1"/>
            <a:r>
              <a:rPr lang="en-US" sz="2800" dirty="0"/>
              <a:t>FY2026 collections thru 3/31/2026 = $  8,160,769</a:t>
            </a:r>
          </a:p>
          <a:p>
            <a:pPr lvl="1"/>
            <a:r>
              <a:rPr lang="en-US" sz="2800" dirty="0"/>
              <a:t>FY2026 State Aid		                    =  $11,244,422		,</a:t>
            </a:r>
          </a:p>
          <a:p>
            <a:pPr lvl="1"/>
            <a:r>
              <a:rPr lang="en-US" sz="2800" dirty="0"/>
              <a:t>FY2026 Collection Rate                         =      73% (*)</a:t>
            </a:r>
          </a:p>
          <a:p>
            <a:pPr lvl="1"/>
            <a:endParaRPr lang="en-US" sz="2800" dirty="0"/>
          </a:p>
          <a:p>
            <a:pPr marL="457200" lvl="1" indent="0">
              <a:buNone/>
            </a:pPr>
            <a:r>
              <a:rPr lang="en-US" sz="2800" dirty="0"/>
              <a:t>(*) Smart growth funds of $318k not yet received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480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E749F-62B8-7B05-8B98-2C7353E83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41563-845F-4A3A-E704-2385CE562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C402A-ECAC-63E0-9364-9E1BDD884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                                           </a:t>
            </a:r>
            <a:r>
              <a:rPr lang="en-US" sz="2800" u="sng" dirty="0"/>
              <a:t>Local Receipt revenue</a:t>
            </a:r>
          </a:p>
          <a:p>
            <a:pPr lvl="1"/>
            <a:r>
              <a:rPr lang="en-US" sz="2800" dirty="0"/>
              <a:t>FY2026 collections thru 3/31/2026 =  $ 3,961,722</a:t>
            </a:r>
          </a:p>
          <a:p>
            <a:pPr lvl="1"/>
            <a:r>
              <a:rPr lang="en-US" sz="2800" dirty="0"/>
              <a:t>FY2026 Local Receipt budget             =  $3,415,624	</a:t>
            </a:r>
          </a:p>
          <a:p>
            <a:pPr lvl="1"/>
            <a:r>
              <a:rPr lang="en-US" sz="2800" dirty="0"/>
              <a:t>FY2026 Collection Rate                         =      116% 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Investment Income and MVE exceeding budget</a:t>
            </a:r>
          </a:p>
          <a:p>
            <a:pPr lvl="1"/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599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9735-7EF3-98ED-36EC-A3705713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3264-2EC3-FD0B-12ED-E0EE6BD0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8B64F-A4ED-9892-F75D-2DC61CC3A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800" u="sng" dirty="0"/>
              <a:t>General Fund – Expenditures</a:t>
            </a:r>
          </a:p>
          <a:p>
            <a:pPr marL="457200" lvl="1" indent="0">
              <a:buNone/>
            </a:pPr>
            <a:endParaRPr lang="en-US" sz="2800" u="sng" dirty="0"/>
          </a:p>
          <a:p>
            <a:pPr lvl="1"/>
            <a:r>
              <a:rPr lang="en-US" sz="2800" dirty="0"/>
              <a:t>FY2026 Total Expended thru 3/31/26 = $36,845,129 (*)</a:t>
            </a:r>
          </a:p>
          <a:p>
            <a:pPr lvl="1"/>
            <a:r>
              <a:rPr lang="en-US" sz="2800" dirty="0"/>
              <a:t>FY2026 Total Revised Budget                =  $51,531,201	</a:t>
            </a:r>
          </a:p>
          <a:p>
            <a:pPr lvl="1"/>
            <a:r>
              <a:rPr lang="en-US" sz="2800" dirty="0"/>
              <a:t>FY2026 Percent expended                         </a:t>
            </a:r>
            <a:r>
              <a:rPr lang="en-US" sz="2800"/>
              <a:t>=      71.5% </a:t>
            </a:r>
            <a:endParaRPr lang="en-US" sz="2800" dirty="0"/>
          </a:p>
          <a:p>
            <a:pPr lvl="1"/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r>
              <a:rPr lang="en-US" dirty="0"/>
              <a:t>* Includes encumbrances of $2.6m (Open Purchase Orders)</a:t>
            </a:r>
          </a:p>
        </p:txBody>
      </p:sp>
    </p:spTree>
    <p:extLst>
      <p:ext uri="{BB962C8B-B14F-4D97-AF65-F5344CB8AC3E}">
        <p14:creationId xmlns:p14="http://schemas.microsoft.com/office/powerpoint/2010/main" val="630497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0A9E-D566-62B9-0BB3-7A402EEC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C3A7-0B27-05CE-3449-346A3E65A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Enterprise Funds</a:t>
            </a:r>
          </a:p>
        </p:txBody>
      </p:sp>
    </p:spTree>
    <p:extLst>
      <p:ext uri="{BB962C8B-B14F-4D97-AF65-F5344CB8AC3E}">
        <p14:creationId xmlns:p14="http://schemas.microsoft.com/office/powerpoint/2010/main" val="2384020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EB1D5-9919-FD28-C5DC-7D5BDA63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C4EEE-2926-3690-47F3-D99C5D33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90D80-E37E-D25E-BBD1-7984A5B1F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800" u="sng" dirty="0"/>
              <a:t>Water Enterprise Fund – Results thru 3/31/2026</a:t>
            </a:r>
          </a:p>
          <a:p>
            <a:pPr marL="457200" lvl="1" indent="0">
              <a:buNone/>
            </a:pPr>
            <a:r>
              <a:rPr lang="en-US" sz="2800" u="sng" dirty="0"/>
              <a:t> </a:t>
            </a:r>
          </a:p>
          <a:p>
            <a:pPr marL="457200" lvl="1" indent="0">
              <a:buNone/>
            </a:pPr>
            <a:r>
              <a:rPr lang="en-US" sz="2800" dirty="0"/>
              <a:t>					 </a:t>
            </a:r>
            <a:r>
              <a:rPr lang="en-US" sz="2800" u="sng" dirty="0"/>
              <a:t>Budget        Actual     %</a:t>
            </a:r>
          </a:p>
          <a:p>
            <a:pPr marL="457200" lvl="1" indent="0">
              <a:buNone/>
            </a:pPr>
            <a:r>
              <a:rPr lang="en-US" sz="2800" dirty="0"/>
              <a:t>Revenue                                       $45,000    $46,852   104%</a:t>
            </a:r>
          </a:p>
          <a:p>
            <a:pPr marL="457200" lvl="1" indent="0">
              <a:buNone/>
            </a:pPr>
            <a:r>
              <a:rPr lang="en-US" sz="2800" dirty="0"/>
              <a:t>Expenditures                              $45,000    $  8,542     19%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55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246B8-2F5C-B30C-1C63-72555FA3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6E562-6672-5CD0-778B-17B0291F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B25BA-025A-A16F-3880-17BD58D62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800" u="sng" dirty="0"/>
              <a:t>Solid Waste/Recycling Enterprise Fund – Results thru 3/31/2026</a:t>
            </a:r>
          </a:p>
          <a:p>
            <a:pPr marL="457200" lvl="1" indent="0">
              <a:buNone/>
            </a:pPr>
            <a:r>
              <a:rPr lang="en-US" sz="2800" u="sng" dirty="0"/>
              <a:t> </a:t>
            </a:r>
          </a:p>
          <a:p>
            <a:pPr marL="457200" lvl="1" indent="0">
              <a:buNone/>
            </a:pPr>
            <a:r>
              <a:rPr lang="en-US" sz="2800" dirty="0"/>
              <a:t>					 </a:t>
            </a:r>
            <a:r>
              <a:rPr lang="en-US" sz="2800" u="sng" dirty="0"/>
              <a:t>Budget          Actual           %    </a:t>
            </a:r>
          </a:p>
          <a:p>
            <a:pPr marL="457200" lvl="1" indent="0">
              <a:buNone/>
            </a:pPr>
            <a:r>
              <a:rPr lang="en-US" sz="2800" dirty="0"/>
              <a:t>Revenue                                       $500,000    $364,167      69%</a:t>
            </a:r>
          </a:p>
          <a:p>
            <a:pPr marL="457200" lvl="1" indent="0">
              <a:buNone/>
            </a:pPr>
            <a:r>
              <a:rPr lang="en-US" sz="2800" dirty="0"/>
              <a:t>Expenditures                        (*) $500,000    $405,205      81%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r>
              <a:rPr lang="en-US" dirty="0"/>
              <a:t>(*) included 66K in encumbrances</a:t>
            </a:r>
          </a:p>
        </p:txBody>
      </p:sp>
    </p:spTree>
    <p:extLst>
      <p:ext uri="{BB962C8B-B14F-4D97-AF65-F5344CB8AC3E}">
        <p14:creationId xmlns:p14="http://schemas.microsoft.com/office/powerpoint/2010/main" val="2980520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7030-D85C-AAD4-DC96-2169A503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0BB3-6AAA-012F-399F-93DF309C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604A4-84C4-AAA8-DCB9-6518FBA7C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800" u="sng" dirty="0"/>
              <a:t>Sewer Enterprise Fund – Results thru 3/31/2026</a:t>
            </a:r>
          </a:p>
          <a:p>
            <a:pPr marL="457200" lvl="1" indent="0">
              <a:buNone/>
            </a:pPr>
            <a:r>
              <a:rPr lang="en-US" sz="2800" u="sng" dirty="0"/>
              <a:t> </a:t>
            </a:r>
          </a:p>
          <a:p>
            <a:pPr marL="457200" lvl="1" indent="0">
              <a:buNone/>
            </a:pPr>
            <a:r>
              <a:rPr lang="en-US" sz="2800" dirty="0"/>
              <a:t>				 </a:t>
            </a:r>
            <a:r>
              <a:rPr lang="en-US" sz="2800" u="sng" dirty="0"/>
              <a:t>Budget                Actual                        %    </a:t>
            </a:r>
          </a:p>
          <a:p>
            <a:pPr marL="457200" lvl="1" indent="0">
              <a:buNone/>
            </a:pPr>
            <a:r>
              <a:rPr lang="en-US" sz="2800" dirty="0"/>
              <a:t>Revenue                          (*)$1,583,917   $1,316,960           83%</a:t>
            </a:r>
          </a:p>
          <a:p>
            <a:pPr marL="457200" lvl="1" indent="0">
              <a:buNone/>
            </a:pPr>
            <a:r>
              <a:rPr lang="en-US" sz="2800" dirty="0"/>
              <a:t>Expenditures                 (*)$1,583,917   $1,406,272(**)    90%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r>
              <a:rPr lang="en-US" dirty="0"/>
              <a:t>(*) Net of $307,421 Free Cash Appropriation</a:t>
            </a:r>
          </a:p>
          <a:p>
            <a:pPr marL="457200" lvl="1" indent="0">
              <a:buNone/>
            </a:pPr>
            <a:r>
              <a:rPr lang="en-US" dirty="0"/>
              <a:t>(**) Includes $443k of Encumbrances</a:t>
            </a:r>
          </a:p>
        </p:txBody>
      </p:sp>
    </p:spTree>
    <p:extLst>
      <p:ext uri="{BB962C8B-B14F-4D97-AF65-F5344CB8AC3E}">
        <p14:creationId xmlns:p14="http://schemas.microsoft.com/office/powerpoint/2010/main" val="1473563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A1F6B-AD63-8C49-CB20-853D3709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8636-A4FF-DF25-D9BF-F302A8FFB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CB8-6403-E174-A824-F473411B9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800" u="sng" dirty="0"/>
              <a:t>Cable/Broadband Enterprise Fund – Results thru 3/31/2026</a:t>
            </a:r>
          </a:p>
          <a:p>
            <a:pPr marL="457200" lvl="1" indent="0">
              <a:buNone/>
            </a:pPr>
            <a:r>
              <a:rPr lang="en-US" sz="2800" u="sng" dirty="0"/>
              <a:t> </a:t>
            </a:r>
          </a:p>
          <a:p>
            <a:pPr marL="457200" lvl="1" indent="0">
              <a:buNone/>
            </a:pPr>
            <a:r>
              <a:rPr lang="en-US" sz="2800" dirty="0"/>
              <a:t>					 </a:t>
            </a:r>
            <a:r>
              <a:rPr lang="en-US" sz="2800" u="sng" dirty="0"/>
              <a:t>Budget              Actual        %    </a:t>
            </a:r>
          </a:p>
          <a:p>
            <a:pPr marL="457200" lvl="1" indent="0">
              <a:buNone/>
            </a:pPr>
            <a:r>
              <a:rPr lang="en-US" sz="2800" dirty="0"/>
              <a:t>Revenue                                       $225,927    $117,828       52%</a:t>
            </a:r>
          </a:p>
          <a:p>
            <a:pPr marL="457200" lvl="1" indent="0">
              <a:buNone/>
            </a:pPr>
            <a:r>
              <a:rPr lang="en-US" sz="2800" dirty="0"/>
              <a:t>Expenditures                       (*)  $225,927    $145,835       64%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r>
              <a:rPr lang="en-US" dirty="0"/>
              <a:t>(*)  This includes 7K in encumbrances</a:t>
            </a:r>
          </a:p>
        </p:txBody>
      </p:sp>
    </p:spTree>
    <p:extLst>
      <p:ext uri="{BB962C8B-B14F-4D97-AF65-F5344CB8AC3E}">
        <p14:creationId xmlns:p14="http://schemas.microsoft.com/office/powerpoint/2010/main" val="1283993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218DDE-579A-15A2-2BC8-63A561BEC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2BFCDF-8500-7F28-E200-582D9F403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Special Revenue Funds detail already distributed via email</a:t>
            </a:r>
          </a:p>
          <a:p>
            <a:endParaRPr lang="en-US" dirty="0"/>
          </a:p>
          <a:p>
            <a:r>
              <a:rPr lang="en-US" dirty="0"/>
              <a:t>Trust and Agency Funds</a:t>
            </a:r>
          </a:p>
        </p:txBody>
      </p:sp>
    </p:spTree>
    <p:extLst>
      <p:ext uri="{BB962C8B-B14F-4D97-AF65-F5344CB8AC3E}">
        <p14:creationId xmlns:p14="http://schemas.microsoft.com/office/powerpoint/2010/main" val="3832559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0CF-AC81-7444-ECFC-0C81A873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Town of Lunenburg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D8A17-6AED-4695-DC03-4C3839ACE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5400" dirty="0"/>
          </a:p>
          <a:p>
            <a:pPr marL="0" indent="0" algn="ctr">
              <a:buNone/>
            </a:pPr>
            <a:r>
              <a:rPr lang="en-US" sz="5400" dirty="0"/>
              <a:t>Any questions?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25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397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Town of Lunenburg</vt:lpstr>
      <vt:lpstr>Town of Lunenburg</vt:lpstr>
      <vt:lpstr>Town of Lunenburg</vt:lpstr>
      <vt:lpstr>Town of Lunenburg</vt:lpstr>
      <vt:lpstr>Town of Lunenburg</vt:lpstr>
      <vt:lpstr>Town of Lunenburg</vt:lpstr>
      <vt:lpstr>Town of Lunenburg</vt:lpstr>
      <vt:lpstr>Town of Lunenburg</vt:lpstr>
      <vt:lpstr>Town of Lunenburg</vt:lpstr>
      <vt:lpstr>Town of Lunenburg</vt:lpstr>
      <vt:lpstr>Town of Lunenburg</vt:lpstr>
      <vt:lpstr>Town of Lunenburg</vt:lpstr>
      <vt:lpstr>Town of Lunenburg</vt:lpstr>
      <vt:lpstr>Town of Lunenburg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Karen Barrett</dc:creator>
  <cp:lastModifiedBy>Karen Barrett</cp:lastModifiedBy>
  <cp:revision>2</cp:revision>
  <cp:lastPrinted>2026-08-11T01:10:01Z</cp:lastPrinted>
  <dcterms:created xsi:type="dcterms:W3CDTF">2026-08-09T20:29:55Z</dcterms:created>
  <dcterms:modified xsi:type="dcterms:W3CDTF">2026-08-12T16:56:59Z</dcterms:modified>
</cp:coreProperties>
</file>